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4"/>
    <p:sldMasterId id="2147483682" r:id="rId5"/>
    <p:sldMasterId id="214748368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embeddedFontLst>
    <p:embeddedFont>
      <p:font typeface="Squada One"/>
      <p:regular r:id="rId18"/>
    </p:embeddedFont>
    <p:embeddedFont>
      <p:font typeface="Merriweather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.fntdata"/><Relationship Id="rId11" Type="http://schemas.openxmlformats.org/officeDocument/2006/relationships/slide" Target="slides/slide4.xml"/><Relationship Id="rId22" Type="http://schemas.openxmlformats.org/officeDocument/2006/relationships/font" Target="fonts/Merriweather-boldItalic.fntdata"/><Relationship Id="rId10" Type="http://schemas.openxmlformats.org/officeDocument/2006/relationships/slide" Target="slides/slide3.xml"/><Relationship Id="rId21" Type="http://schemas.openxmlformats.org/officeDocument/2006/relationships/font" Target="fonts/Merriweather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19" Type="http://schemas.openxmlformats.org/officeDocument/2006/relationships/font" Target="fonts/Merriweather-regular.fntdata"/><Relationship Id="rId6" Type="http://schemas.openxmlformats.org/officeDocument/2006/relationships/slideMaster" Target="slideMasters/slideMaster3.xml"/><Relationship Id="rId18" Type="http://schemas.openxmlformats.org/officeDocument/2006/relationships/font" Target="fonts/SquadaOne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h5dba163d8608c42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h5dba163d8608c42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5dba163d8608c42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h5dba163d8608c42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h5dba163d8608c42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h5dba163d8608c42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h56391cd9b2a091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h56391cd9b2a091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h56391cd9b2a0910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h56391cd9b2a0910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h2d94673519612fa_3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h2d94673519612fa_3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h2d94673519612fa_3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h2d94673519612fa_3_10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h2d94673519612fa_3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h2d94673519612fa_3_1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h2d94673519612fa_3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h2d94673519612fa_3_13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2" name="Google Shape;10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5" name="Google Shape;105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6" name="Google Shape;10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9" name="Google Shape;10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3" name="Google Shape;113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4" name="Google Shape;11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" name="Google Shape;11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0" name="Google Shape;120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1" name="Google Shape;12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4" name="Google Shape;12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8" name="Google Shape;12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9" name="Google Shape;12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0" name="Google Shape;13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33" name="Google Shape;13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6" name="Google Shape;136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7" name="Google Shape;13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rgbClr val="FFFFFF"/>
            </a:gs>
            <a:gs pos="100000">
              <a:srgbClr val="B3B3B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rgbClr val="FFFFFF"/>
            </a:gs>
            <a:gs pos="100000">
              <a:srgbClr val="B3B3B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rgbClr val="FFFFFF"/>
            </a:gs>
            <a:gs pos="100000">
              <a:srgbClr val="B3B3B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hyperlink" Target="http://dpll.py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7"/>
          <p:cNvSpPr/>
          <p:nvPr/>
        </p:nvSpPr>
        <p:spPr>
          <a:xfrm>
            <a:off x="0" y="150"/>
            <a:ext cx="4145100" cy="5143500"/>
          </a:xfrm>
          <a:prstGeom prst="flowChartDelay">
            <a:avLst/>
          </a:prstGeom>
          <a:solidFill>
            <a:srgbClr val="38761D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37"/>
          <p:cNvSpPr/>
          <p:nvPr/>
        </p:nvSpPr>
        <p:spPr>
          <a:xfrm>
            <a:off x="1085200" y="681025"/>
            <a:ext cx="6050441" cy="19657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Squada One"/>
              </a:rPr>
              <a:t>JUEGO DEL WUMPUS</a:t>
            </a:r>
            <a:br>
              <a:rPr b="1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Squada One"/>
              </a:rPr>
            </a:br>
            <a:r>
              <a:rPr b="1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Squada One"/>
              </a:rPr>
              <a:t> Y ROBOT</a:t>
            </a:r>
          </a:p>
        </p:txBody>
      </p:sp>
      <p:sp>
        <p:nvSpPr>
          <p:cNvPr id="146" name="Google Shape;146;p37"/>
          <p:cNvSpPr txBox="1"/>
          <p:nvPr/>
        </p:nvSpPr>
        <p:spPr>
          <a:xfrm>
            <a:off x="1085200" y="2646775"/>
            <a:ext cx="4230000" cy="12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lt1"/>
                </a:solidFill>
              </a:rPr>
              <a:t>Inteligencia Artificial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lt1"/>
                </a:solidFill>
              </a:rPr>
              <a:t>Jimena de Prado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lt1"/>
                </a:solidFill>
              </a:rPr>
              <a:t>Belisa Yu</a:t>
            </a:r>
            <a:endParaRPr b="1" sz="1700">
              <a:solidFill>
                <a:schemeClr val="lt1"/>
              </a:solidFill>
            </a:endParaRPr>
          </a:p>
        </p:txBody>
      </p:sp>
      <p:cxnSp>
        <p:nvCxnSpPr>
          <p:cNvPr id="147" name="Google Shape;147;p37"/>
          <p:cNvCxnSpPr/>
          <p:nvPr/>
        </p:nvCxnSpPr>
        <p:spPr>
          <a:xfrm flipH="1" rot="10800000">
            <a:off x="867716" y="3201478"/>
            <a:ext cx="3125400" cy="5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" name="Google Shape;148;p37"/>
          <p:cNvSpPr/>
          <p:nvPr/>
        </p:nvSpPr>
        <p:spPr>
          <a:xfrm rot="-5400000">
            <a:off x="6217300" y="2216850"/>
            <a:ext cx="2366100" cy="3487200"/>
          </a:xfrm>
          <a:prstGeom prst="rtTriangle">
            <a:avLst/>
          </a:prstGeom>
          <a:solidFill>
            <a:srgbClr val="38761D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37" title="wumpu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4250" y="2020575"/>
            <a:ext cx="3040300" cy="304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7"/>
          <p:cNvSpPr txBox="1"/>
          <p:nvPr/>
        </p:nvSpPr>
        <p:spPr>
          <a:xfrm>
            <a:off x="4426800" y="2884550"/>
            <a:ext cx="52203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300">
                <a:solidFill>
                  <a:schemeClr val="dk2"/>
                </a:solidFill>
              </a:rPr>
              <a:t>🤖</a:t>
            </a:r>
            <a:endParaRPr sz="13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8"/>
          <p:cNvSpPr txBox="1"/>
          <p:nvPr>
            <p:ph type="title"/>
          </p:nvPr>
        </p:nvSpPr>
        <p:spPr>
          <a:xfrm>
            <a:off x="355200" y="194900"/>
            <a:ext cx="8520600" cy="105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7020">
                <a:solidFill>
                  <a:srgbClr val="38761D"/>
                </a:solidFill>
                <a:latin typeface="Squada One"/>
                <a:ea typeface="Squada One"/>
                <a:cs typeface="Squada One"/>
                <a:sym typeface="Squada One"/>
              </a:rPr>
              <a:t>ÍNDICE</a:t>
            </a:r>
            <a:endParaRPr sz="7020">
              <a:solidFill>
                <a:srgbClr val="38761D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156" name="Google Shape;156;p38"/>
          <p:cNvSpPr txBox="1"/>
          <p:nvPr/>
        </p:nvSpPr>
        <p:spPr>
          <a:xfrm>
            <a:off x="556750" y="1689875"/>
            <a:ext cx="7611900" cy="19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000"/>
              <a:buFont typeface="Merriweather"/>
              <a:buAutoNum type="arabicPeriod"/>
            </a:pPr>
            <a:r>
              <a:rPr b="1" lang="es" sz="2000">
                <a:solidFill>
                  <a:srgbClr val="38761D"/>
                </a:solidFill>
                <a:latin typeface="Merriweather"/>
                <a:ea typeface="Merriweather"/>
                <a:cs typeface="Merriweather"/>
                <a:sym typeface="Merriweather"/>
              </a:rPr>
              <a:t>Resolución SAT y Motor DPLL en el mundo del Wumpus</a:t>
            </a:r>
            <a:endParaRPr b="1" sz="2000">
              <a:solidFill>
                <a:srgbClr val="38761D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700"/>
              <a:buFont typeface="Merriweather"/>
              <a:buAutoNum type="alphaLcPeriod"/>
            </a:pPr>
            <a:r>
              <a:rPr b="1" lang="es" sz="1700">
                <a:solidFill>
                  <a:srgbClr val="274E13"/>
                </a:solidFill>
                <a:latin typeface="Merriweather"/>
                <a:ea typeface="Merriweather"/>
                <a:cs typeface="Merriweather"/>
                <a:sym typeface="Merriweather"/>
              </a:rPr>
              <a:t>Modelo lógico del Entorno y Aprendizaje del Agente</a:t>
            </a:r>
            <a:endParaRPr b="1" sz="1700">
              <a:solidFill>
                <a:srgbClr val="274E1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700"/>
              <a:buFont typeface="Merriweather"/>
              <a:buAutoNum type="alphaLcPeriod"/>
            </a:pPr>
            <a:r>
              <a:rPr b="1" lang="es" sz="1700">
                <a:solidFill>
                  <a:srgbClr val="274E13"/>
                </a:solidFill>
                <a:latin typeface="Merriweather"/>
                <a:ea typeface="Merriweather"/>
                <a:cs typeface="Merriweather"/>
                <a:sym typeface="Merriweather"/>
              </a:rPr>
              <a:t>Inferencia lógica y optimización algorítmica con DPLL</a:t>
            </a:r>
            <a:endParaRPr b="1" sz="1700">
              <a:solidFill>
                <a:srgbClr val="274E1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700"/>
              <a:buFont typeface="Merriweather"/>
              <a:buAutoNum type="alphaLcPeriod"/>
            </a:pPr>
            <a:r>
              <a:rPr b="1" lang="es" sz="1700">
                <a:solidFill>
                  <a:srgbClr val="274E13"/>
                </a:solidFill>
                <a:latin typeface="Merriweather"/>
                <a:ea typeface="Merriweather"/>
                <a:cs typeface="Merriweather"/>
                <a:sym typeface="Merriweather"/>
              </a:rPr>
              <a:t>Resultados y conclusiones</a:t>
            </a:r>
            <a:endParaRPr b="1" sz="1700">
              <a:solidFill>
                <a:srgbClr val="274E1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700"/>
              <a:buFont typeface="Merriweather"/>
              <a:buAutoNum type="alphaLcPeriod"/>
            </a:pPr>
            <a:r>
              <a:rPr b="1" lang="es" sz="1700">
                <a:solidFill>
                  <a:srgbClr val="274E13"/>
                </a:solidFill>
                <a:latin typeface="Merriweather"/>
                <a:ea typeface="Merriweather"/>
                <a:cs typeface="Merriweather"/>
                <a:sym typeface="Merriweather"/>
              </a:rPr>
              <a:t>Experimentación</a:t>
            </a:r>
            <a:endParaRPr b="1" sz="1700">
              <a:solidFill>
                <a:srgbClr val="274E1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74E13"/>
              </a:solidFill>
              <a:latin typeface="Squada One"/>
              <a:ea typeface="Squada One"/>
              <a:cs typeface="Squada One"/>
              <a:sym typeface="Squada On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000"/>
              <a:buFont typeface="Merriweather"/>
              <a:buAutoNum type="arabicPeriod"/>
            </a:pPr>
            <a:r>
              <a:rPr b="1" lang="es" sz="2000">
                <a:solidFill>
                  <a:srgbClr val="38761D"/>
                </a:solidFill>
                <a:latin typeface="Merriweather"/>
                <a:ea typeface="Merriweather"/>
                <a:cs typeface="Merriweather"/>
                <a:sym typeface="Merriweather"/>
              </a:rPr>
              <a:t>Planificación basada en conocimiento: robot de reparto</a:t>
            </a:r>
            <a:endParaRPr b="1" sz="2000">
              <a:solidFill>
                <a:srgbClr val="38761D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700"/>
              <a:buFont typeface="Merriweather"/>
              <a:buAutoNum type="alphaLcPeriod"/>
            </a:pPr>
            <a:r>
              <a:rPr b="1" lang="es" sz="1700">
                <a:solidFill>
                  <a:srgbClr val="274E13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Problema y formalización con cálculo de situaciones</a:t>
            </a:r>
            <a:endParaRPr b="1" sz="1700">
              <a:solidFill>
                <a:srgbClr val="274E1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700"/>
              <a:buFont typeface="Merriweather"/>
              <a:buAutoNum type="alphaLcPeriod"/>
            </a:pPr>
            <a:r>
              <a:rPr b="1" lang="es" sz="1700">
                <a:solidFill>
                  <a:srgbClr val="274E13"/>
                </a:solidFill>
                <a:latin typeface="Merriweather"/>
                <a:ea typeface="Merriweather"/>
                <a:cs typeface="Merriweather"/>
                <a:sym typeface="Merriweather"/>
              </a:rPr>
              <a:t>Axiomas del dominio</a:t>
            </a:r>
            <a:endParaRPr b="1" sz="1700">
              <a:solidFill>
                <a:srgbClr val="274E1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700"/>
              <a:buFont typeface="Merriweather"/>
              <a:buAutoNum type="alphaLcPeriod"/>
            </a:pPr>
            <a:r>
              <a:rPr b="1" lang="es" sz="1700">
                <a:solidFill>
                  <a:srgbClr val="274E13"/>
                </a:solidFill>
                <a:latin typeface="Merriweather"/>
                <a:ea typeface="Merriweather"/>
                <a:cs typeface="Merriweather"/>
                <a:sym typeface="Merriweather"/>
              </a:rPr>
              <a:t>Búsqueda hacia delante con BFS</a:t>
            </a:r>
            <a:endParaRPr b="1" sz="1700">
              <a:solidFill>
                <a:srgbClr val="274E1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700"/>
              <a:buFont typeface="Merriweather"/>
              <a:buAutoNum type="alphaLcPeriod"/>
            </a:pPr>
            <a:r>
              <a:rPr b="1" lang="es" sz="1700">
                <a:solidFill>
                  <a:srgbClr val="274E13"/>
                </a:solidFill>
                <a:latin typeface="Merriweather"/>
                <a:ea typeface="Merriweather"/>
                <a:cs typeface="Merriweather"/>
                <a:sym typeface="Merriweather"/>
              </a:rPr>
              <a:t>Resultados y conclusiones</a:t>
            </a:r>
            <a:endParaRPr b="1" sz="2000">
              <a:solidFill>
                <a:srgbClr val="38761D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cxnSp>
        <p:nvCxnSpPr>
          <p:cNvPr id="157" name="Google Shape;157;p38"/>
          <p:cNvCxnSpPr/>
          <p:nvPr/>
        </p:nvCxnSpPr>
        <p:spPr>
          <a:xfrm>
            <a:off x="295775" y="1428875"/>
            <a:ext cx="8503500" cy="10800"/>
          </a:xfrm>
          <a:prstGeom prst="straightConnector1">
            <a:avLst/>
          </a:prstGeom>
          <a:noFill/>
          <a:ln cap="flat" cmpd="sng" w="7620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38"/>
          <p:cNvSpPr/>
          <p:nvPr/>
        </p:nvSpPr>
        <p:spPr>
          <a:xfrm rot="5400000">
            <a:off x="7447200" y="-909600"/>
            <a:ext cx="787200" cy="2606400"/>
          </a:xfrm>
          <a:prstGeom prst="halfFrame">
            <a:avLst>
              <a:gd fmla="val 33333" name="adj1"/>
              <a:gd fmla="val 33333" name="adj2"/>
            </a:avLst>
          </a:prstGeom>
          <a:solidFill>
            <a:srgbClr val="38761D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9"/>
          <p:cNvSpPr txBox="1"/>
          <p:nvPr>
            <p:ph type="title"/>
          </p:nvPr>
        </p:nvSpPr>
        <p:spPr>
          <a:xfrm>
            <a:off x="268200" y="129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1220">
                <a:solidFill>
                  <a:srgbClr val="38761D"/>
                </a:solidFill>
                <a:latin typeface="Merriweather"/>
                <a:ea typeface="Merriweather"/>
                <a:cs typeface="Merriweather"/>
                <a:sym typeface="Merriweather"/>
              </a:rPr>
              <a:t>Resolución SAT y Motor DPLL en el mundo del Wumpus</a:t>
            </a:r>
            <a:endParaRPr b="1" sz="1220">
              <a:solidFill>
                <a:srgbClr val="38761D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4" name="Google Shape;164;p39"/>
          <p:cNvSpPr txBox="1"/>
          <p:nvPr/>
        </p:nvSpPr>
        <p:spPr>
          <a:xfrm>
            <a:off x="268200" y="517500"/>
            <a:ext cx="6356400" cy="7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666666"/>
                </a:solidFill>
                <a:latin typeface="Merriweather"/>
                <a:ea typeface="Merriweather"/>
                <a:cs typeface="Merriweather"/>
                <a:sym typeface="Merriweather"/>
              </a:rPr>
              <a:t>Modelo lógico del Entorno y Aprendizaje del Agente</a:t>
            </a:r>
            <a:endParaRPr b="1" sz="2400">
              <a:solidFill>
                <a:srgbClr val="6666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65" name="Google Shape;16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625" y="1439875"/>
            <a:ext cx="3079425" cy="307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9"/>
          <p:cNvSpPr txBox="1"/>
          <p:nvPr/>
        </p:nvSpPr>
        <p:spPr>
          <a:xfrm>
            <a:off x="1785525" y="1646350"/>
            <a:ext cx="63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solidFill>
                  <a:srgbClr val="FF0000"/>
                </a:solidFill>
              </a:rPr>
              <a:t>?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167" name="Google Shape;167;p39"/>
          <p:cNvSpPr txBox="1"/>
          <p:nvPr/>
        </p:nvSpPr>
        <p:spPr>
          <a:xfrm>
            <a:off x="807000" y="2693225"/>
            <a:ext cx="63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solidFill>
                  <a:srgbClr val="FF0000"/>
                </a:solidFill>
              </a:rPr>
              <a:t>?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168" name="Google Shape;168;p39"/>
          <p:cNvSpPr txBox="1"/>
          <p:nvPr/>
        </p:nvSpPr>
        <p:spPr>
          <a:xfrm>
            <a:off x="3862525" y="1245151"/>
            <a:ext cx="5038200" cy="3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700"/>
              <a:buAutoNum type="arabicPeriod"/>
            </a:pPr>
            <a:r>
              <a:rPr b="1" lang="es" sz="1700">
                <a:solidFill>
                  <a:srgbClr val="38761D"/>
                </a:solidFill>
              </a:rPr>
              <a:t>Entorno estocástico </a:t>
            </a:r>
            <a:endParaRPr b="1" sz="1700">
              <a:solidFill>
                <a:srgbClr val="38761D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lphaLcPeriod"/>
            </a:pPr>
            <a:r>
              <a:rPr b="1" lang="es" sz="1700">
                <a:solidFill>
                  <a:schemeClr val="dk2"/>
                </a:solidFill>
              </a:rPr>
              <a:t>Tablero aleatorio</a:t>
            </a:r>
            <a:endParaRPr b="1" sz="1700">
              <a:solidFill>
                <a:schemeClr val="dk2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lphaLcPeriod"/>
            </a:pPr>
            <a:r>
              <a:rPr b="1" lang="es" sz="1700">
                <a:solidFill>
                  <a:schemeClr val="dk2"/>
                </a:solidFill>
              </a:rPr>
              <a:t>Observabilidad parcial</a:t>
            </a:r>
            <a:endParaRPr b="1"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700"/>
              <a:buAutoNum type="arabicPeriod"/>
            </a:pPr>
            <a:r>
              <a:rPr b="1" lang="es" sz="1700">
                <a:solidFill>
                  <a:srgbClr val="38761D"/>
                </a:solidFill>
              </a:rPr>
              <a:t>Codificación (id_var &amp; perceive)</a:t>
            </a:r>
            <a:endParaRPr b="1" sz="1700">
              <a:solidFill>
                <a:srgbClr val="38761D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lphaLcPeriod"/>
            </a:pPr>
            <a:r>
              <a:rPr b="1" lang="es" sz="1700">
                <a:solidFill>
                  <a:schemeClr val="dk2"/>
                </a:solidFill>
              </a:rPr>
              <a:t>Pistas a números enteros</a:t>
            </a:r>
            <a:endParaRPr b="1" sz="1700">
              <a:solidFill>
                <a:schemeClr val="dk2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lphaLcPeriod"/>
            </a:pPr>
            <a:r>
              <a:rPr b="1" lang="es" sz="1700">
                <a:solidFill>
                  <a:schemeClr val="dk2"/>
                </a:solidFill>
              </a:rPr>
              <a:t>Hechos: ±Breeze, ±Reek, ±Bright</a:t>
            </a:r>
            <a:endParaRPr b="1" sz="17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700"/>
              <a:buAutoNum type="arabicPeriod"/>
            </a:pPr>
            <a:r>
              <a:rPr b="1" lang="es" sz="1700">
                <a:solidFill>
                  <a:srgbClr val="38761D"/>
                </a:solidFill>
              </a:rPr>
              <a:t>Formalización lógica -&gt; FNC</a:t>
            </a:r>
            <a:endParaRPr b="1" sz="17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2"/>
                </a:solidFill>
              </a:rPr>
              <a:t>	Well(x,y) · Wumpus(x,y) · Gold(x,y)</a:t>
            </a:r>
            <a:endParaRPr b="1"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2"/>
                </a:solidFill>
              </a:rPr>
              <a:t>	</a:t>
            </a:r>
            <a:r>
              <a:rPr b="1" lang="es" sz="1700">
                <a:solidFill>
                  <a:schemeClr val="dk2"/>
                </a:solidFill>
              </a:rPr>
              <a:t>Reek(x,y) &lt;-&gt; Wumpus(vecinos)</a:t>
            </a:r>
            <a:endParaRPr b="1" sz="17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2"/>
                </a:solidFill>
              </a:rPr>
              <a:t>Breeze(x,y) &lt;-&gt; Well(vecinos) →</a:t>
            </a:r>
            <a:r>
              <a:rPr b="1" lang="es" sz="1700">
                <a:solidFill>
                  <a:srgbClr val="FF0000"/>
                </a:solidFill>
              </a:rPr>
              <a:t> FNC = </a:t>
            </a:r>
            <a:r>
              <a:rPr b="1" lang="es" sz="165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(¬B v P1 v P2) ∧ (¬P1 v B) ∧ (¬P2 v B)</a:t>
            </a:r>
            <a:endParaRPr b="1" sz="1700">
              <a:solidFill>
                <a:srgbClr val="FF0000"/>
              </a:solidFill>
            </a:endParaRPr>
          </a:p>
        </p:txBody>
      </p:sp>
      <p:sp>
        <p:nvSpPr>
          <p:cNvPr id="169" name="Google Shape;169;p39"/>
          <p:cNvSpPr/>
          <p:nvPr/>
        </p:nvSpPr>
        <p:spPr>
          <a:xfrm rot="5400000">
            <a:off x="7447200" y="-909600"/>
            <a:ext cx="787200" cy="2606400"/>
          </a:xfrm>
          <a:prstGeom prst="halfFrame">
            <a:avLst>
              <a:gd fmla="val 33333" name="adj1"/>
              <a:gd fmla="val 33333" name="adj2"/>
            </a:avLst>
          </a:prstGeom>
          <a:solidFill>
            <a:srgbClr val="38761D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0"/>
          <p:cNvSpPr/>
          <p:nvPr/>
        </p:nvSpPr>
        <p:spPr>
          <a:xfrm rot="5400000">
            <a:off x="7447200" y="-909600"/>
            <a:ext cx="787200" cy="2606400"/>
          </a:xfrm>
          <a:prstGeom prst="halfFrame">
            <a:avLst>
              <a:gd fmla="val 33333" name="adj1"/>
              <a:gd fmla="val 33333" name="adj2"/>
            </a:avLst>
          </a:prstGeom>
          <a:solidFill>
            <a:srgbClr val="38761D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0"/>
          <p:cNvSpPr txBox="1"/>
          <p:nvPr>
            <p:ph type="title"/>
          </p:nvPr>
        </p:nvSpPr>
        <p:spPr>
          <a:xfrm>
            <a:off x="268200" y="129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1220">
                <a:solidFill>
                  <a:srgbClr val="38761D"/>
                </a:solidFill>
                <a:latin typeface="Merriweather"/>
                <a:ea typeface="Merriweather"/>
                <a:cs typeface="Merriweather"/>
                <a:sym typeface="Merriweather"/>
              </a:rPr>
              <a:t>Resolución SAT y Motor DPLL en el mundo del Wumpus</a:t>
            </a:r>
            <a:endParaRPr b="1" sz="1220">
              <a:solidFill>
                <a:srgbClr val="38761D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76" name="Google Shape;17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1875" y="997382"/>
            <a:ext cx="3757426" cy="385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40"/>
          <p:cNvSpPr txBox="1"/>
          <p:nvPr/>
        </p:nvSpPr>
        <p:spPr>
          <a:xfrm>
            <a:off x="268200" y="441733"/>
            <a:ext cx="6356400" cy="7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666666"/>
                </a:solidFill>
                <a:latin typeface="Merriweather"/>
                <a:ea typeface="Merriweather"/>
                <a:cs typeface="Merriweather"/>
                <a:sym typeface="Merriweather"/>
              </a:rPr>
              <a:t>Inferencia lógica y optimización </a:t>
            </a:r>
            <a:r>
              <a:rPr b="1" lang="es" sz="2400">
                <a:solidFill>
                  <a:srgbClr val="666666"/>
                </a:solidFill>
                <a:latin typeface="Merriweather"/>
                <a:ea typeface="Merriweather"/>
                <a:cs typeface="Merriweather"/>
                <a:sym typeface="Merriweather"/>
              </a:rPr>
              <a:t>algorítmica</a:t>
            </a:r>
            <a:r>
              <a:rPr b="1" lang="es" sz="2400">
                <a:solidFill>
                  <a:srgbClr val="666666"/>
                </a:solidFill>
                <a:latin typeface="Merriweather"/>
                <a:ea typeface="Merriweather"/>
                <a:cs typeface="Merriweather"/>
                <a:sym typeface="Merriweather"/>
              </a:rPr>
              <a:t> con DPLL</a:t>
            </a:r>
            <a:endParaRPr b="1" sz="2400">
              <a:solidFill>
                <a:srgbClr val="6666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8" name="Google Shape;178;p40"/>
          <p:cNvSpPr txBox="1"/>
          <p:nvPr/>
        </p:nvSpPr>
        <p:spPr>
          <a:xfrm>
            <a:off x="224025" y="1331205"/>
            <a:ext cx="4806300" cy="3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500"/>
              <a:buChar char="●"/>
            </a:pPr>
            <a:r>
              <a:rPr b="1" lang="es" sz="1500">
                <a:solidFill>
                  <a:srgbClr val="38761D"/>
                </a:solidFill>
              </a:rPr>
              <a:t>Reducción al Absurdo (entails)</a:t>
            </a:r>
            <a:endParaRPr b="1" sz="1500">
              <a:solidFill>
                <a:srgbClr val="38761D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b="1" lang="es" sz="1500">
                <a:solidFill>
                  <a:schemeClr val="dk2"/>
                </a:solidFill>
              </a:rPr>
              <a:t>Evaluación mediante contradicción: </a:t>
            </a:r>
            <a:r>
              <a:rPr b="1" i="1" lang="es" sz="1500">
                <a:solidFill>
                  <a:schemeClr val="dk2"/>
                </a:solidFill>
              </a:rPr>
              <a:t>KB U {¬α}</a:t>
            </a:r>
            <a:endParaRPr b="1" i="1" sz="1500">
              <a:solidFill>
                <a:schemeClr val="dk2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b="1" lang="es" sz="1500">
                <a:solidFill>
                  <a:schemeClr val="dk2"/>
                </a:solidFill>
              </a:rPr>
              <a:t>Forzar hipótesis de peligro</a:t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500"/>
              <a:buChar char="●"/>
            </a:pPr>
            <a:r>
              <a:rPr b="1" lang="es" sz="1500">
                <a:solidFill>
                  <a:srgbClr val="38761D"/>
                </a:solidFill>
              </a:rPr>
              <a:t>Optimización DPLL (</a:t>
            </a:r>
            <a:r>
              <a:rPr b="1" lang="es" sz="1500" u="sng">
                <a:solidFill>
                  <a:srgbClr val="38761D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DPLL.py</a:t>
            </a:r>
            <a:r>
              <a:rPr b="1" lang="es" sz="1500">
                <a:solidFill>
                  <a:srgbClr val="38761D"/>
                </a:solidFill>
              </a:rPr>
              <a:t>)</a:t>
            </a:r>
            <a:endParaRPr b="1" sz="1500">
              <a:solidFill>
                <a:srgbClr val="38761D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b="1" lang="es" sz="1500">
                <a:solidFill>
                  <a:schemeClr val="dk2"/>
                </a:solidFill>
              </a:rPr>
              <a:t>Puros: asignación sin alternativas</a:t>
            </a:r>
            <a:endParaRPr b="1" sz="1500">
              <a:solidFill>
                <a:schemeClr val="dk2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b="1" lang="es" sz="1500">
                <a:solidFill>
                  <a:schemeClr val="dk2"/>
                </a:solidFill>
              </a:rPr>
              <a:t>Unitarios: descarte por cláusula única</a:t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500"/>
              <a:buChar char="●"/>
            </a:pPr>
            <a:r>
              <a:rPr b="1" lang="es" sz="1500">
                <a:solidFill>
                  <a:srgbClr val="38761D"/>
                </a:solidFill>
              </a:rPr>
              <a:t>Toma de decisiones (move)</a:t>
            </a:r>
            <a:endParaRPr b="1" sz="1500">
              <a:solidFill>
                <a:srgbClr val="38761D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b="1" lang="es" sz="1500">
                <a:solidFill>
                  <a:schemeClr val="dk2"/>
                </a:solidFill>
              </a:rPr>
              <a:t>DPLL = False ==&gt; casilla 100% segura</a:t>
            </a:r>
            <a:endParaRPr b="1" sz="1500">
              <a:solidFill>
                <a:schemeClr val="dk2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b="1" lang="es" sz="1500">
                <a:solidFill>
                  <a:schemeClr val="dk2"/>
                </a:solidFill>
              </a:rPr>
              <a:t>Movimiento seguro, exploración o retroceso</a:t>
            </a:r>
            <a:endParaRPr b="1"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1"/>
          <p:cNvSpPr/>
          <p:nvPr/>
        </p:nvSpPr>
        <p:spPr>
          <a:xfrm rot="5400000">
            <a:off x="7447200" y="-909600"/>
            <a:ext cx="787200" cy="2606400"/>
          </a:xfrm>
          <a:prstGeom prst="halfFrame">
            <a:avLst>
              <a:gd fmla="val 33333" name="adj1"/>
              <a:gd fmla="val 33333" name="adj2"/>
            </a:avLst>
          </a:prstGeom>
          <a:solidFill>
            <a:srgbClr val="38761D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1"/>
          <p:cNvSpPr txBox="1"/>
          <p:nvPr/>
        </p:nvSpPr>
        <p:spPr>
          <a:xfrm>
            <a:off x="268200" y="517500"/>
            <a:ext cx="6356400" cy="7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666666"/>
                </a:solidFill>
                <a:latin typeface="Merriweather"/>
                <a:ea typeface="Merriweather"/>
                <a:cs typeface="Merriweather"/>
                <a:sym typeface="Merriweather"/>
              </a:rPr>
              <a:t>Resultados + conclusión</a:t>
            </a:r>
            <a:endParaRPr b="1" sz="2400">
              <a:solidFill>
                <a:srgbClr val="6666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5" name="Google Shape;185;p41"/>
          <p:cNvSpPr txBox="1"/>
          <p:nvPr>
            <p:ph type="title"/>
          </p:nvPr>
        </p:nvSpPr>
        <p:spPr>
          <a:xfrm>
            <a:off x="268200" y="129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1220">
                <a:solidFill>
                  <a:srgbClr val="38761D"/>
                </a:solidFill>
                <a:latin typeface="Merriweather"/>
                <a:ea typeface="Merriweather"/>
                <a:cs typeface="Merriweather"/>
                <a:sym typeface="Merriweather"/>
              </a:rPr>
              <a:t>Resolución SAT y Motor DPLL en el mundo del Wumpus</a:t>
            </a:r>
            <a:endParaRPr b="1" sz="1220">
              <a:solidFill>
                <a:srgbClr val="38761D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86" name="Google Shape;18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8675" y="1309200"/>
            <a:ext cx="3079425" cy="3079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7" name="Google Shape;187;p41"/>
          <p:cNvCxnSpPr/>
          <p:nvPr/>
        </p:nvCxnSpPr>
        <p:spPr>
          <a:xfrm>
            <a:off x="1672450" y="1798625"/>
            <a:ext cx="853500" cy="12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41"/>
          <p:cNvCxnSpPr/>
          <p:nvPr/>
        </p:nvCxnSpPr>
        <p:spPr>
          <a:xfrm flipH="1">
            <a:off x="2526050" y="1823350"/>
            <a:ext cx="12300" cy="1039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41"/>
          <p:cNvCxnSpPr/>
          <p:nvPr/>
        </p:nvCxnSpPr>
        <p:spPr>
          <a:xfrm rot="10800000">
            <a:off x="1499225" y="2862450"/>
            <a:ext cx="10515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41"/>
          <p:cNvCxnSpPr/>
          <p:nvPr/>
        </p:nvCxnSpPr>
        <p:spPr>
          <a:xfrm>
            <a:off x="1499225" y="2862450"/>
            <a:ext cx="0" cy="989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" name="Google Shape;191;p41"/>
          <p:cNvSpPr txBox="1"/>
          <p:nvPr/>
        </p:nvSpPr>
        <p:spPr>
          <a:xfrm>
            <a:off x="4567050" y="1378025"/>
            <a:ext cx="3909000" cy="23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s" sz="1800">
                <a:solidFill>
                  <a:schemeClr val="dk2"/>
                </a:solidFill>
              </a:rPr>
              <a:t>Formalización mediante lógica proposicional</a:t>
            </a:r>
            <a:endParaRPr b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s" sz="1800">
                <a:solidFill>
                  <a:schemeClr val="dk2"/>
                </a:solidFill>
              </a:rPr>
              <a:t>Inferencia mediante DPLL</a:t>
            </a:r>
            <a:endParaRPr b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s" sz="1800">
                <a:solidFill>
                  <a:schemeClr val="dk2"/>
                </a:solidFill>
              </a:rPr>
              <a:t>Navegación autónoma en un entorno desconocido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2"/>
          <p:cNvSpPr/>
          <p:nvPr/>
        </p:nvSpPr>
        <p:spPr>
          <a:xfrm rot="5400000">
            <a:off x="7447200" y="-909600"/>
            <a:ext cx="787200" cy="2606400"/>
          </a:xfrm>
          <a:prstGeom prst="halfFrame">
            <a:avLst>
              <a:gd fmla="val 33333" name="adj1"/>
              <a:gd fmla="val 33333" name="adj2"/>
            </a:avLst>
          </a:prstGeom>
          <a:solidFill>
            <a:srgbClr val="38761D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7" name="Google Shape;19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375" y="1148350"/>
            <a:ext cx="5516600" cy="334641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42"/>
          <p:cNvSpPr txBox="1"/>
          <p:nvPr/>
        </p:nvSpPr>
        <p:spPr>
          <a:xfrm>
            <a:off x="268200" y="441733"/>
            <a:ext cx="6356400" cy="7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666666"/>
                </a:solidFill>
                <a:latin typeface="Merriweather"/>
                <a:ea typeface="Merriweather"/>
                <a:cs typeface="Merriweather"/>
                <a:sym typeface="Merriweather"/>
              </a:rPr>
              <a:t>Experimentación</a:t>
            </a:r>
            <a:endParaRPr b="1" sz="2400">
              <a:solidFill>
                <a:srgbClr val="6666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9" name="Google Shape;199;p42"/>
          <p:cNvSpPr txBox="1"/>
          <p:nvPr>
            <p:ph type="title"/>
          </p:nvPr>
        </p:nvSpPr>
        <p:spPr>
          <a:xfrm>
            <a:off x="268200" y="129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1220">
                <a:solidFill>
                  <a:srgbClr val="38761D"/>
                </a:solidFill>
                <a:latin typeface="Merriweather"/>
                <a:ea typeface="Merriweather"/>
                <a:cs typeface="Merriweather"/>
                <a:sym typeface="Merriweather"/>
              </a:rPr>
              <a:t>Resolución SAT y Motor DPLL en el mundo del Wumpus</a:t>
            </a:r>
            <a:endParaRPr b="1" sz="1220">
              <a:solidFill>
                <a:srgbClr val="38761D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00" name="Google Shape;200;p42"/>
          <p:cNvSpPr txBox="1"/>
          <p:nvPr/>
        </p:nvSpPr>
        <p:spPr>
          <a:xfrm>
            <a:off x="6113325" y="1238175"/>
            <a:ext cx="2675400" cy="3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274E13"/>
                </a:solidFill>
              </a:rPr>
              <a:t>¿Tiempo polinómico? N = range(2,7)</a:t>
            </a:r>
            <a:endParaRPr b="1" sz="1800">
              <a:solidFill>
                <a:srgbClr val="274E1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74E1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s" sz="1800">
                <a:solidFill>
                  <a:schemeClr val="dk2"/>
                </a:solidFill>
              </a:rPr>
              <a:t>Cláusulas Horn</a:t>
            </a:r>
            <a:endParaRPr b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s" sz="1800">
                <a:solidFill>
                  <a:schemeClr val="dk2"/>
                </a:solidFill>
              </a:rPr>
              <a:t> Crecimiento de variables O(n^2)</a:t>
            </a:r>
            <a:endParaRPr b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s" sz="1800">
                <a:solidFill>
                  <a:schemeClr val="dk2"/>
                </a:solidFill>
              </a:rPr>
              <a:t>Árbol prácticamente sin ramificar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3"/>
          <p:cNvSpPr txBox="1"/>
          <p:nvPr>
            <p:ph type="title"/>
          </p:nvPr>
        </p:nvSpPr>
        <p:spPr>
          <a:xfrm>
            <a:off x="268200" y="129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1220">
                <a:solidFill>
                  <a:srgbClr val="38761D"/>
                </a:solidFill>
                <a:latin typeface="Merriweather"/>
                <a:ea typeface="Merriweather"/>
                <a:cs typeface="Merriweather"/>
                <a:sym typeface="Merriweather"/>
              </a:rPr>
              <a:t>Planificación basada en conocimiento: robot de reparto</a:t>
            </a:r>
            <a:endParaRPr b="1" sz="1220">
              <a:solidFill>
                <a:srgbClr val="38761D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06" name="Google Shape;206;p43"/>
          <p:cNvSpPr txBox="1"/>
          <p:nvPr/>
        </p:nvSpPr>
        <p:spPr>
          <a:xfrm>
            <a:off x="268200" y="517500"/>
            <a:ext cx="6356400" cy="7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" sz="2400" u="none" cap="none" strike="noStrike">
                <a:solidFill>
                  <a:srgbClr val="666666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Problema y formalización</a:t>
            </a:r>
            <a:endParaRPr b="1" i="0" sz="2400" u="none" cap="none" strike="noStrike">
              <a:solidFill>
                <a:srgbClr val="6666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07" name="Google Shape;207;p43"/>
          <p:cNvSpPr txBox="1"/>
          <p:nvPr/>
        </p:nvSpPr>
        <p:spPr>
          <a:xfrm>
            <a:off x="1785525" y="1646350"/>
            <a:ext cx="63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3"/>
          <p:cNvSpPr txBox="1"/>
          <p:nvPr/>
        </p:nvSpPr>
        <p:spPr>
          <a:xfrm>
            <a:off x="3862525" y="1245138"/>
            <a:ext cx="4610700" cy="34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700"/>
              <a:buFont typeface="Arial"/>
              <a:buAutoNum type="arabicPeriod"/>
            </a:pPr>
            <a:r>
              <a:rPr b="1" i="0" lang="es" sz="17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endParaRPr b="1" i="0" sz="17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AutoNum type="alphaLcPeriod"/>
            </a:pPr>
            <a:r>
              <a:rPr b="1" i="0" lang="e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Robot de almacén: coger la caja y llevarla a la meta</a:t>
            </a:r>
            <a:endParaRPr b="1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AutoNum type="alphaLcPeriod"/>
            </a:pPr>
            <a:r>
              <a:rPr b="1" i="0" lang="e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Obstáculos aleatorios; siempre existe un camino</a:t>
            </a:r>
            <a:endParaRPr b="1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AutoNum type="alphaLcPeriod"/>
            </a:pPr>
            <a:r>
              <a:rPr b="1" i="0" lang="e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Entorno determinista y totalmente observable</a:t>
            </a:r>
            <a:endParaRPr b="1" i="0" sz="14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700"/>
              <a:buFont typeface="Arial"/>
              <a:buAutoNum type="arabicPeriod"/>
            </a:pPr>
            <a:r>
              <a:rPr b="1" i="0" lang="es" sz="17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Cálculo de situaciones</a:t>
            </a:r>
            <a:endParaRPr b="1" i="0" sz="17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AutoNum type="alphaLcPeriod"/>
            </a:pPr>
            <a:r>
              <a:rPr b="1" lang="es">
                <a:solidFill>
                  <a:schemeClr val="dk2"/>
                </a:solidFill>
              </a:rPr>
              <a:t>Argumentos</a:t>
            </a:r>
            <a:r>
              <a:rPr b="1" i="0" lang="e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 En(Agente, x, s), En(C, x, s), Sosteniendo(C, s)</a:t>
            </a:r>
            <a:endParaRPr b="1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AutoNum type="alphaLcPeriod"/>
            </a:pPr>
            <a:r>
              <a:rPr b="1" i="0" lang="e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Acciones: Ir(x, y), Coger(C), Soltar(C)</a:t>
            </a:r>
            <a:endParaRPr b="1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AutoNum type="alphaLcPeriod"/>
            </a:pPr>
            <a:r>
              <a:rPr b="1" i="0" lang="e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Init: En(Agente, [1,1], S0) ∧ En(C, caja, S0)</a:t>
            </a:r>
            <a:endParaRPr b="1" i="0" sz="14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700"/>
              <a:buFont typeface="Arial"/>
              <a:buAutoNum type="arabicPeriod"/>
            </a:pPr>
            <a:r>
              <a:rPr b="1" i="0" lang="es" sz="17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1" i="0" sz="17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AutoNum type="alphaLcPeriod"/>
            </a:pPr>
            <a:r>
              <a:rPr b="1" i="0" lang="e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∃ seq En(C, meta, Resultado(seq, S0)) ∧ ¬Sosteniendo(C, Resultado(seq, S0))</a:t>
            </a:r>
            <a:endParaRPr b="1" i="0" sz="17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3"/>
          <p:cNvSpPr/>
          <p:nvPr/>
        </p:nvSpPr>
        <p:spPr>
          <a:xfrm rot="5400000">
            <a:off x="7447200" y="-909600"/>
            <a:ext cx="787200" cy="2606400"/>
          </a:xfrm>
          <a:prstGeom prst="halfFrame">
            <a:avLst>
              <a:gd fmla="val 33333" name="adj1"/>
              <a:gd fmla="val 33333" name="adj2"/>
            </a:avLst>
          </a:prstGeom>
          <a:solidFill>
            <a:srgbClr val="38761D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588" y="1245150"/>
            <a:ext cx="3246475" cy="324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4"/>
          <p:cNvSpPr/>
          <p:nvPr/>
        </p:nvSpPr>
        <p:spPr>
          <a:xfrm rot="5400000">
            <a:off x="7447200" y="-909600"/>
            <a:ext cx="787200" cy="2606400"/>
          </a:xfrm>
          <a:prstGeom prst="halfFrame">
            <a:avLst>
              <a:gd fmla="val 33333" name="adj1"/>
              <a:gd fmla="val 33333" name="adj2"/>
            </a:avLst>
          </a:prstGeom>
          <a:solidFill>
            <a:srgbClr val="38761D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4"/>
          <p:cNvSpPr txBox="1"/>
          <p:nvPr>
            <p:ph type="title"/>
          </p:nvPr>
        </p:nvSpPr>
        <p:spPr>
          <a:xfrm>
            <a:off x="268200" y="129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1220">
                <a:solidFill>
                  <a:srgbClr val="38761D"/>
                </a:solidFill>
                <a:latin typeface="Merriweather"/>
                <a:ea typeface="Merriweather"/>
                <a:cs typeface="Merriweather"/>
                <a:sym typeface="Merriweather"/>
              </a:rPr>
              <a:t>Planificación basada en conocimiento: robot de reparto</a:t>
            </a:r>
            <a:endParaRPr b="1" sz="1220">
              <a:solidFill>
                <a:srgbClr val="38761D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17" name="Google Shape;217;p44"/>
          <p:cNvSpPr txBox="1"/>
          <p:nvPr/>
        </p:nvSpPr>
        <p:spPr>
          <a:xfrm>
            <a:off x="268200" y="441733"/>
            <a:ext cx="6356400" cy="7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" sz="2400" u="none" cap="none" strike="noStrike">
                <a:solidFill>
                  <a:srgbClr val="666666"/>
                </a:solidFill>
                <a:latin typeface="Merriweather"/>
                <a:ea typeface="Merriweather"/>
                <a:cs typeface="Merriweather"/>
                <a:sym typeface="Merriweather"/>
              </a:rPr>
              <a:t>Axiomas del dominio</a:t>
            </a:r>
            <a:endParaRPr b="1" i="0" sz="2400" u="none" cap="none" strike="noStrike">
              <a:solidFill>
                <a:srgbClr val="6666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18" name="Google Shape;218;p44"/>
          <p:cNvSpPr/>
          <p:nvPr/>
        </p:nvSpPr>
        <p:spPr>
          <a:xfrm>
            <a:off x="330000" y="1300000"/>
            <a:ext cx="2700000" cy="3250000"/>
          </a:xfrm>
          <a:prstGeom prst="roundRect">
            <a:avLst>
              <a:gd fmla="val 6000" name="adj"/>
            </a:avLst>
          </a:prstGeom>
          <a:solidFill>
            <a:srgbClr val="FFFFFF">
              <a:alpha val="7215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44"/>
          <p:cNvSpPr txBox="1"/>
          <p:nvPr/>
        </p:nvSpPr>
        <p:spPr>
          <a:xfrm>
            <a:off x="390000" y="1360000"/>
            <a:ext cx="2580000" cy="30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lang="es" sz="1500">
                <a:solidFill>
                  <a:srgbClr val="38761D"/>
                </a:solidFill>
              </a:rPr>
              <a:t>recondición</a:t>
            </a:r>
            <a:endParaRPr b="1" sz="1500">
              <a:solidFill>
                <a:srgbClr val="38761D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Arial"/>
              <a:buNone/>
            </a:pPr>
            <a:r>
              <a:rPr b="1" lang="es" sz="1250">
                <a:solidFill>
                  <a:schemeClr val="dk2"/>
                </a:solidFill>
              </a:rPr>
              <a:t>Ir(x, y): En(Agente, x, s) ∧ Adyacente(x, y) ∧ ¬Obstáculo(y) </a:t>
            </a:r>
            <a:endParaRPr b="1" sz="125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Arial"/>
              <a:buNone/>
            </a:pPr>
            <a:r>
              <a:t/>
            </a:r>
            <a:endParaRPr sz="125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Arial"/>
              <a:buNone/>
            </a:pPr>
            <a:r>
              <a:rPr b="1" lang="es" sz="1250">
                <a:solidFill>
                  <a:schemeClr val="dk2"/>
                </a:solidFill>
              </a:rPr>
              <a:t>Coger(C): En(Agente, x, s) ∧ En(C, x, s) ∧ ¬Sosteniendo(C, s) </a:t>
            </a:r>
            <a:endParaRPr b="1" sz="125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Arial"/>
              <a:buNone/>
            </a:pPr>
            <a:r>
              <a:t/>
            </a:r>
            <a:endParaRPr sz="125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Arial"/>
              <a:buNone/>
            </a:pPr>
            <a:r>
              <a:rPr b="1" lang="es" sz="1250">
                <a:solidFill>
                  <a:schemeClr val="dk2"/>
                </a:solidFill>
              </a:rPr>
              <a:t>Soltar(C): En(Agente, x, s) ∧ Sosteniendo(C, 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44"/>
          <p:cNvSpPr/>
          <p:nvPr/>
        </p:nvSpPr>
        <p:spPr>
          <a:xfrm>
            <a:off x="3210000" y="1300000"/>
            <a:ext cx="2700000" cy="3250000"/>
          </a:xfrm>
          <a:prstGeom prst="roundRect">
            <a:avLst>
              <a:gd fmla="val 6000" name="adj"/>
            </a:avLst>
          </a:prstGeom>
          <a:solidFill>
            <a:srgbClr val="FFFFFF">
              <a:alpha val="7215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44"/>
          <p:cNvSpPr txBox="1"/>
          <p:nvPr/>
        </p:nvSpPr>
        <p:spPr>
          <a:xfrm>
            <a:off x="3270000" y="1360000"/>
            <a:ext cx="25800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Efecto</a:t>
            </a:r>
            <a:endParaRPr b="1" i="0" sz="15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Arial"/>
              <a:buNone/>
            </a:pPr>
            <a:r>
              <a:rPr b="1" i="0" lang="es" sz="12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Notación: s' = Resultado(a, s)</a:t>
            </a:r>
            <a:endParaRPr b="1" sz="125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Arial"/>
              <a:buNone/>
            </a:pPr>
            <a:r>
              <a:rPr b="1" i="0" lang="es" sz="12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Ir(x, y): En(Agente, y, s') ∧ ¬En(Agente, x, s')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Arial"/>
              <a:buNone/>
            </a:pPr>
            <a:r>
              <a:rPr b="1" i="0" lang="es" sz="12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La caja sostenida no tiene En(C, ·): va con el robot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Arial"/>
              <a:buNone/>
            </a:pPr>
            <a:r>
              <a:rPr b="1" i="0" lang="es" sz="12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Coger(C): Sosteniendo(C, s') ∧ ¬En(C, x, s')</a:t>
            </a:r>
            <a:endParaRPr b="1" sz="125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Arial"/>
              <a:buNone/>
            </a:pPr>
            <a:r>
              <a:rPr b="1" i="0" lang="es" sz="12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Soltar(C): ¬Sosteniendo(C, s') ∧ En(C, x, s')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4"/>
          <p:cNvSpPr/>
          <p:nvPr/>
        </p:nvSpPr>
        <p:spPr>
          <a:xfrm>
            <a:off x="6090000" y="1300000"/>
            <a:ext cx="2700000" cy="3250000"/>
          </a:xfrm>
          <a:prstGeom prst="roundRect">
            <a:avLst>
              <a:gd fmla="val 6000" name="adj"/>
            </a:avLst>
          </a:prstGeom>
          <a:solidFill>
            <a:srgbClr val="FFFFFF">
              <a:alpha val="7215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44"/>
          <p:cNvSpPr txBox="1"/>
          <p:nvPr/>
        </p:nvSpPr>
        <p:spPr>
          <a:xfrm>
            <a:off x="6150000" y="1360000"/>
            <a:ext cx="2580000" cy="30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Estado-sucesor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Arial"/>
              <a:buNone/>
            </a:pPr>
            <a:r>
              <a:rPr b="1" lang="es" sz="1250">
                <a:solidFill>
                  <a:schemeClr val="dk2"/>
                </a:solidFill>
              </a:rPr>
              <a:t>Aplicable(a, s) ⇒ ( F(s') ⇔ EfectoPos(a, F) ∨ [F(s) ∧ ¬EfectoNeg(a, F)] )</a:t>
            </a:r>
            <a:endParaRPr b="1" sz="125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Arial"/>
              <a:buNone/>
            </a:pPr>
            <a:r>
              <a:t/>
            </a:r>
            <a:endParaRPr b="1" sz="125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Arial"/>
              <a:buNone/>
            </a:pPr>
            <a:r>
              <a:rPr b="1" i="0" lang="es" sz="12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Resuelve el problema del marco: lo que no cambia se conserva</a:t>
            </a:r>
            <a:endParaRPr b="1" i="0" sz="125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Arial"/>
              <a:buNone/>
            </a:pPr>
            <a:r>
              <a:t/>
            </a:r>
            <a:endParaRPr b="1" sz="125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Arial"/>
              <a:buNone/>
            </a:pPr>
            <a:r>
              <a:rPr b="1" i="0" lang="es" sz="12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 el código: s' = (s − EfectoNeg) ∪ EfectoPos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5"/>
          <p:cNvSpPr/>
          <p:nvPr/>
        </p:nvSpPr>
        <p:spPr>
          <a:xfrm rot="5400000">
            <a:off x="7447200" y="-909600"/>
            <a:ext cx="787200" cy="2606400"/>
          </a:xfrm>
          <a:prstGeom prst="halfFrame">
            <a:avLst>
              <a:gd fmla="val 33333" name="adj1"/>
              <a:gd fmla="val 33333" name="adj2"/>
            </a:avLst>
          </a:prstGeom>
          <a:solidFill>
            <a:srgbClr val="38761D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45"/>
          <p:cNvSpPr txBox="1"/>
          <p:nvPr>
            <p:ph type="title"/>
          </p:nvPr>
        </p:nvSpPr>
        <p:spPr>
          <a:xfrm>
            <a:off x="268200" y="129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1220">
                <a:solidFill>
                  <a:srgbClr val="38761D"/>
                </a:solidFill>
                <a:latin typeface="Merriweather"/>
                <a:ea typeface="Merriweather"/>
                <a:cs typeface="Merriweather"/>
                <a:sym typeface="Merriweather"/>
              </a:rPr>
              <a:t>Planificación basada en conocimiento: robot de reparto</a:t>
            </a:r>
            <a:endParaRPr b="1" sz="1220">
              <a:solidFill>
                <a:srgbClr val="38761D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30" name="Google Shape;230;p45"/>
          <p:cNvSpPr txBox="1"/>
          <p:nvPr/>
        </p:nvSpPr>
        <p:spPr>
          <a:xfrm>
            <a:off x="268200" y="441733"/>
            <a:ext cx="6356400" cy="7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" sz="2400" u="none" cap="none" strike="noStrike">
                <a:solidFill>
                  <a:srgbClr val="666666"/>
                </a:solidFill>
                <a:latin typeface="Merriweather"/>
                <a:ea typeface="Merriweather"/>
                <a:cs typeface="Merriweather"/>
                <a:sym typeface="Merriweather"/>
              </a:rPr>
              <a:t>Búsqueda hacia delante con BFS</a:t>
            </a:r>
            <a:endParaRPr b="1" i="0" sz="2400" u="none" cap="none" strike="noStrike">
              <a:solidFill>
                <a:srgbClr val="6666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31" name="Google Shape;231;p45"/>
          <p:cNvSpPr/>
          <p:nvPr/>
        </p:nvSpPr>
        <p:spPr>
          <a:xfrm>
            <a:off x="380000" y="1360000"/>
            <a:ext cx="380000" cy="3800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5"/>
          <p:cNvSpPr txBox="1"/>
          <p:nvPr/>
        </p:nvSpPr>
        <p:spPr>
          <a:xfrm>
            <a:off x="870000" y="1300000"/>
            <a:ext cx="39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Frontera FIFO con (S0, [ ]): se avanza desde la situación inicial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5"/>
          <p:cNvSpPr/>
          <p:nvPr/>
        </p:nvSpPr>
        <p:spPr>
          <a:xfrm>
            <a:off x="380000" y="2040000"/>
            <a:ext cx="380000" cy="3800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45"/>
          <p:cNvSpPr txBox="1"/>
          <p:nvPr/>
        </p:nvSpPr>
        <p:spPr>
          <a:xfrm>
            <a:off x="870000" y="1980000"/>
            <a:ext cx="39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Sacar la situación más antigua: primero planes de 1 acción, luego de 2...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5"/>
          <p:cNvSpPr/>
          <p:nvPr/>
        </p:nvSpPr>
        <p:spPr>
          <a:xfrm>
            <a:off x="380000" y="2720000"/>
            <a:ext cx="380000" cy="3800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5"/>
          <p:cNvSpPr txBox="1"/>
          <p:nvPr/>
        </p:nvSpPr>
        <p:spPr>
          <a:xfrm>
            <a:off x="870000" y="2817600"/>
            <a:ext cx="3900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lang="es" sz="1200">
                <a:solidFill>
                  <a:schemeClr val="dk2"/>
                </a:solidFill>
              </a:rPr>
              <a:t>Acciones aplicables según las precondiciones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5"/>
          <p:cNvSpPr/>
          <p:nvPr/>
        </p:nvSpPr>
        <p:spPr>
          <a:xfrm>
            <a:off x="380000" y="3400000"/>
            <a:ext cx="380000" cy="3800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5"/>
          <p:cNvSpPr txBox="1"/>
          <p:nvPr/>
        </p:nvSpPr>
        <p:spPr>
          <a:xfrm>
            <a:off x="870000" y="3340000"/>
            <a:ext cx="39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Situación siguiente con el axioma estado-sucesor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5"/>
          <p:cNvSpPr/>
          <p:nvPr/>
        </p:nvSpPr>
        <p:spPr>
          <a:xfrm>
            <a:off x="380000" y="4080000"/>
            <a:ext cx="380000" cy="3800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5"/>
          <p:cNvSpPr txBox="1"/>
          <p:nvPr/>
        </p:nvSpPr>
        <p:spPr>
          <a:xfrm>
            <a:off x="870000" y="4020000"/>
            <a:ext cx="39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 ya se visitó, se descarta; si cumple el objetivo, se devuelve el plan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45"/>
          <p:cNvSpPr/>
          <p:nvPr/>
        </p:nvSpPr>
        <p:spPr>
          <a:xfrm>
            <a:off x="5050000" y="1250000"/>
            <a:ext cx="3800000" cy="3600000"/>
          </a:xfrm>
          <a:prstGeom prst="roundRect">
            <a:avLst>
              <a:gd fmla="val 6000" name="adj"/>
            </a:avLst>
          </a:prstGeom>
          <a:solidFill>
            <a:srgbClr val="FFFFFF">
              <a:alpha val="7215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45"/>
          <p:cNvSpPr txBox="1"/>
          <p:nvPr/>
        </p:nvSpPr>
        <p:spPr>
          <a:xfrm>
            <a:off x="5130000" y="1310000"/>
            <a:ext cx="3650000" cy="2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Ejemplo (N = 5, figura anterior)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</a:pPr>
            <a:r>
              <a:rPr b="1" i="0" lang="es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1. Ir([1,1], [2,1])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</a:pPr>
            <a:r>
              <a:rPr b="1" i="0" lang="es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2. Ir([2,1], [2,2])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</a:pPr>
            <a:r>
              <a:rPr b="1" i="0" lang="es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3. Ir([2,2], [2,3])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</a:pPr>
            <a:r>
              <a:rPr b="1" i="0" lang="es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4. Ir([2,3], [2,4])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</a:pPr>
            <a:r>
              <a:rPr b="1" i="0" lang="es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5. Coger(C)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</a:pPr>
            <a:r>
              <a:rPr b="1" i="0" lang="es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6. Ir([2,4], [3,4])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</a:pPr>
            <a:r>
              <a:rPr b="1" i="0" lang="es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7. Ir([3,4], [3,3])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</a:pPr>
            <a:r>
              <a:rPr b="1" i="0" lang="es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8. Ir([3,3], [3,2])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</a:pPr>
            <a:r>
              <a:rPr b="1" i="0" lang="es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9. Ir([3,2], [4,2])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</a:pPr>
            <a:r>
              <a:rPr b="1" i="0" lang="es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10. Ir([4,2], [5,2])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</a:pPr>
            <a:r>
              <a:rPr b="1" i="0" lang="es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11. Ir([5,2], [5,1])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</a:pPr>
            <a:r>
              <a:rPr b="1" i="0" lang="es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12. Soltar(C)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5"/>
          <p:cNvSpPr txBox="1"/>
          <p:nvPr/>
        </p:nvSpPr>
        <p:spPr>
          <a:xfrm>
            <a:off x="5130000" y="4180000"/>
            <a:ext cx="365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100"/>
              <a:buFont typeface="Arial"/>
              <a:buNone/>
            </a:pPr>
            <a:r>
              <a:rPr b="1" i="0" lang="es" sz="11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12 acciones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6"/>
          <p:cNvSpPr txBox="1"/>
          <p:nvPr>
            <p:ph type="title"/>
          </p:nvPr>
        </p:nvSpPr>
        <p:spPr>
          <a:xfrm>
            <a:off x="268200" y="129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1220">
                <a:solidFill>
                  <a:srgbClr val="38761D"/>
                </a:solidFill>
                <a:latin typeface="Merriweather"/>
                <a:ea typeface="Merriweather"/>
                <a:cs typeface="Merriweather"/>
                <a:sym typeface="Merriweather"/>
              </a:rPr>
              <a:t>Planificación basada en conocimiento: robot de reparto</a:t>
            </a:r>
            <a:endParaRPr b="1" sz="1220">
              <a:solidFill>
                <a:srgbClr val="38761D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49" name="Google Shape;249;p46"/>
          <p:cNvSpPr txBox="1"/>
          <p:nvPr/>
        </p:nvSpPr>
        <p:spPr>
          <a:xfrm>
            <a:off x="268200" y="517500"/>
            <a:ext cx="6356400" cy="7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" sz="2400" u="none" cap="none" strike="noStrike">
                <a:solidFill>
                  <a:srgbClr val="666666"/>
                </a:solidFill>
                <a:latin typeface="Merriweather"/>
                <a:ea typeface="Merriweather"/>
                <a:cs typeface="Merriweather"/>
                <a:sym typeface="Merriweather"/>
              </a:rPr>
              <a:t>Resultados y conclusiones</a:t>
            </a:r>
            <a:endParaRPr b="1" i="0" sz="2400" u="none" cap="none" strike="noStrike">
              <a:solidFill>
                <a:srgbClr val="6666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50" name="Google Shape;250;p46"/>
          <p:cNvSpPr txBox="1"/>
          <p:nvPr/>
        </p:nvSpPr>
        <p:spPr>
          <a:xfrm>
            <a:off x="1785525" y="1646350"/>
            <a:ext cx="63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2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46"/>
          <p:cNvSpPr txBox="1"/>
          <p:nvPr/>
        </p:nvSpPr>
        <p:spPr>
          <a:xfrm>
            <a:off x="4420000" y="1245138"/>
            <a:ext cx="445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700"/>
              <a:buFont typeface="Arial"/>
              <a:buAutoNum type="arabicPeriod"/>
            </a:pPr>
            <a:r>
              <a:rPr b="1" i="0" lang="es" sz="17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Experimento</a:t>
            </a:r>
            <a:endParaRPr b="1" i="0" sz="17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AutoNum type="alphaLcPeriod"/>
            </a:pPr>
            <a:r>
              <a:rPr b="1" i="0" lang="e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Tamaño N de 4 a 16; probabilidad de obstáculo 0, 0.25 y 0.5</a:t>
            </a:r>
            <a:endParaRPr b="1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AutoNum type="alphaLcPeriod"/>
            </a:pPr>
            <a:r>
              <a:rPr b="1" i="0" lang="e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50 tableros por configuración; tiempo medio de BFS</a:t>
            </a:r>
            <a:endParaRPr b="1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700"/>
              <a:buFont typeface="Arial"/>
              <a:buAutoNum type="arabicPeriod"/>
            </a:pPr>
            <a:r>
              <a:rPr b="1" i="0" lang="es" sz="17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 b="1" i="0" sz="17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AutoNum type="alphaLcPeriod"/>
            </a:pPr>
            <a:r>
              <a:rPr b="1" i="0" lang="e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El tiempo crece como N⁴: ≈ ×25 al duplicar N (de 8 a 16)</a:t>
            </a:r>
            <a:endParaRPr b="1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AutoNum type="alphaLcPeriod"/>
            </a:pPr>
            <a:r>
              <a:rPr b="1" i="0" lang="e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Más obstáculos, menos tiempo: ≈ 65 ms frente a ≈ 9 ms con N = 16</a:t>
            </a:r>
            <a:endParaRPr b="1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AutoNum type="alphaLcPeriod"/>
            </a:pPr>
            <a:r>
              <a:rPr b="1" i="0" lang="e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Plan óptimo en menos de 0.1 s en todos los casos</a:t>
            </a:r>
            <a:endParaRPr b="1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700"/>
              <a:buFont typeface="Arial"/>
              <a:buAutoNum type="arabicPeriod"/>
            </a:pPr>
            <a:r>
              <a:rPr b="1" i="0" lang="es" sz="17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Limitación</a:t>
            </a:r>
            <a:endParaRPr b="1" i="0" sz="17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AutoNum type="alphaLcPeriod"/>
            </a:pPr>
            <a:r>
              <a:rPr b="1" i="0" lang="e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Siempre existe solución: no se mide el peor caso</a:t>
            </a:r>
            <a:endParaRPr b="1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46"/>
          <p:cNvSpPr/>
          <p:nvPr/>
        </p:nvSpPr>
        <p:spPr>
          <a:xfrm rot="5400000">
            <a:off x="7447200" y="-909600"/>
            <a:ext cx="787200" cy="2606400"/>
          </a:xfrm>
          <a:prstGeom prst="halfFrame">
            <a:avLst>
              <a:gd fmla="val 33333" name="adj1"/>
              <a:gd fmla="val 33333" name="adj2"/>
            </a:avLst>
          </a:prstGeom>
          <a:solidFill>
            <a:srgbClr val="38761D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" name="Google Shape;25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200" y="1400000"/>
            <a:ext cx="4150000" cy="2964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